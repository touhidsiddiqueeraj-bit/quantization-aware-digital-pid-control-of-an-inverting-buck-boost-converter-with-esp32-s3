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viewProps" Target="viewProp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3000"/>
            <a:ext cx="108813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Digital Implementation Trade-offs in</a:t>
            </a:r>
            <a:br/>
            <a:r>
              <a:t>PID-Controlled Buck-Boost Converters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A Simulation-Based Study of Sampling and Quantization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931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/>
            </a:pPr>
            <a:r>
              <a:t>Presented by: Syeda Salsabil Islam Ariya &amp; Jasimul Islam Chowdhury</a:t>
            </a:r>
          </a:p>
          <a:p>
            <a:pPr>
              <a:spcAft>
                <a:spcPts val="700"/>
              </a:spcAft>
              <a:defRPr sz="1800"/>
            </a:pPr>
            <a:r>
              <a:t>Presented to: Tareq Anwar Shikdar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/>
            </a:pPr>
            <a:r>
              <a:t>• Buck-boost converters are widely used where the input voltage may be above or below the required output voltage.</a:t>
            </a:r>
          </a:p>
          <a:p>
            <a:pPr>
              <a:spcAft>
                <a:spcPts val="700"/>
              </a:spcAft>
              <a:defRPr sz="1700"/>
            </a:pPr>
            <a:r>
              <a:t>• PID control offers a simple and practical approach for closed-loop voltage regulation.</a:t>
            </a:r>
          </a:p>
          <a:p>
            <a:pPr>
              <a:spcAft>
                <a:spcPts val="700"/>
              </a:spcAft>
              <a:defRPr sz="1700"/>
            </a:pPr>
            <a:r>
              <a:t>• An ideal Simulink controller does not fully represent a real digital implementation.</a:t>
            </a:r>
          </a:p>
          <a:p>
            <a:pPr>
              <a:spcAft>
                <a:spcPts val="700"/>
              </a:spcAft>
              <a:defRPr sz="1700"/>
            </a:pPr>
            <a:r>
              <a:t>• Digital control introduces discrete sampling, finite measurement resolution and finite PWM/duty-cycle resolution.</a:t>
            </a:r>
          </a:p>
          <a:p>
            <a:pPr>
              <a:spcAft>
                <a:spcPts val="700"/>
              </a:spcAft>
              <a:defRPr sz="1700"/>
            </a:pPr>
            <a:r>
              <a:t>• These limitations can affect transient response, steady-state accuracy, ripple and small persistent oscillations.</a:t>
            </a:r>
          </a:p>
          <a:p>
            <a:pPr>
              <a:spcAft>
                <a:spcPts val="700"/>
              </a:spcAft>
              <a:defRPr sz="1700"/>
            </a:pPr>
            <a:r>
              <a:t>• This study will quantify these effects using the PID-controlled buck-boost converter that has already been developed.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• Digital PID control of buck-boost converters has already been studied. Earlier work used discrete PID structures together with ADC and DPWM concepts and evaluated the controller through simulation and hardware.</a:t>
            </a:r>
          </a:p>
          <a:p>
            <a:pPr>
              <a:spcAft>
                <a:spcPts val="700"/>
              </a:spcAft>
              <a:defRPr sz="1600"/>
            </a:pPr>
            <a:r>
              <a:t>• Research on digital DC-DC control also shows that sampling frequency, discretization and implementation delay influence closed-loop performance.</a:t>
            </a:r>
          </a:p>
          <a:p>
            <a:pPr>
              <a:spcAft>
                <a:spcPts val="700"/>
              </a:spcAft>
              <a:defRPr sz="1600"/>
            </a:pPr>
            <a:r>
              <a:t>• A 2020 study examined analog and digital PID/PIDN control of a bidirectional buck-boost converter using MATLAB-based analysis.</a:t>
            </a:r>
          </a:p>
          <a:p>
            <a:pPr>
              <a:spcAft>
                <a:spcPts val="700"/>
              </a:spcAft>
              <a:defRPr sz="1600"/>
            </a:pPr>
            <a:r>
              <a:t>• Therefore, simply converting the existing PID controller into a discrete controller would not provide sufficient novelty.</a:t>
            </a:r>
          </a:p>
          <a:p>
            <a:pPr>
              <a:spcAft>
                <a:spcPts val="700"/>
              </a:spcAft>
              <a:defRPr sz="1600"/>
            </a:pPr>
            <a:r>
              <a:t>• Our study instead focuses on a systematic, design-oriented investigation of practical digital implementation limitations.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Literature Review — Quantization &amp;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• González-Castaño et al. (2020) investigated ADC quantization and DPWM-related quantization-induced perturbations in a digitally controlled buck-boost converter.</a:t>
            </a:r>
          </a:p>
          <a:p>
            <a:pPr>
              <a:spcAft>
                <a:spcPts val="700"/>
              </a:spcAft>
              <a:defRPr sz="1500"/>
            </a:pPr>
            <a:r>
              <a:t>• Their work used a two-loop current-controlled architecture, a coupled-inductor converter, analytical investigation, simulation and experimental validation.</a:t>
            </a:r>
          </a:p>
          <a:p>
            <a:pPr>
              <a:spcAft>
                <a:spcPts val="700"/>
              </a:spcAft>
              <a:defRPr sz="1500"/>
            </a:pPr>
            <a:r>
              <a:t>• A recent 2025 study further investigated end-to-end ADC/DPWM quantization co-design for MHz GaN converters across several converter topologies.</a:t>
            </a:r>
          </a:p>
          <a:p>
            <a:pPr>
              <a:spcAft>
                <a:spcPts val="700"/>
              </a:spcAft>
              <a:defRPr sz="1500"/>
            </a:pPr>
            <a:r>
              <a:t>• These studies establish that quantization itself is not a new topic.</a:t>
            </a:r>
          </a:p>
          <a:p>
            <a:pPr>
              <a:spcAft>
                <a:spcPts val="700"/>
              </a:spcAft>
              <a:defRPr sz="1500"/>
            </a:pPr>
            <a:r>
              <a:t>• Proposed gap: a focused study of the combined influence of sampling time, ADC/measurement resolution and PWM resolution in a simple single-loop voltage PID buck-boost architecture, with emphasis on practical performance boundaries.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Research Questions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Research Questions</a:t>
            </a:r>
          </a:p>
          <a:p>
            <a:pPr>
              <a:spcAft>
                <a:spcPts val="700"/>
              </a:spcAft>
              <a:defRPr sz="1500"/>
            </a:pPr>
            <a:r>
              <a:t>• How does sampling time affect transient and steady-state performance?</a:t>
            </a:r>
          </a:p>
          <a:p>
            <a:pPr>
              <a:spcAft>
                <a:spcPts val="700"/>
              </a:spcAft>
              <a:defRPr sz="1500"/>
            </a:pPr>
            <a:r>
              <a:t>• How do ADC and PWM resolutions affect regulation accuracy and ripple?</a:t>
            </a:r>
          </a:p>
          <a:p>
            <a:pPr>
              <a:spcAft>
                <a:spcPts val="700"/>
              </a:spcAft>
              <a:defRPr sz="1500"/>
            </a:pPr>
            <a:r>
              <a:t>• What is the combined effect of sampling and finite digital resolution?</a:t>
            </a:r>
          </a:p>
          <a:p>
            <a:pPr>
              <a:spcAft>
                <a:spcPts val="700"/>
              </a:spcAft>
              <a:defRPr sz="1500"/>
            </a:pPr>
            <a:r>
              <a:t>• Can a practical range of sampling speed and digital resolution be identified?</a:t>
            </a:r>
          </a:p>
          <a:p>
            <a:pPr>
              <a:spcAft>
                <a:spcPts val="700"/>
              </a:spcAft>
              <a:defRPr sz="1500"/>
            </a:pPr>
            <a:endParaRPr/>
          </a:p>
          <a:p>
            <a:pPr>
              <a:spcAft>
                <a:spcPts val="700"/>
              </a:spcAft>
              <a:defRPr sz="1500"/>
            </a:pPr>
            <a:r>
              <a:t>Objectives</a:t>
            </a:r>
          </a:p>
          <a:p>
            <a:pPr>
              <a:spcAft>
                <a:spcPts val="700"/>
              </a:spcAft>
              <a:defRPr sz="1500"/>
            </a:pPr>
            <a:r>
              <a:t>• Validate the existing PID buck-boost model as the baseline.</a:t>
            </a:r>
          </a:p>
          <a:p>
            <a:pPr>
              <a:spcAft>
                <a:spcPts val="700"/>
              </a:spcAft>
              <a:defRPr sz="1500"/>
            </a:pPr>
            <a:r>
              <a:t>• Separately investigate sampling, ADC resolution and PWM resolution.</a:t>
            </a:r>
          </a:p>
          <a:p>
            <a:pPr>
              <a:spcAft>
                <a:spcPts val="700"/>
              </a:spcAft>
              <a:defRPr sz="1500"/>
            </a:pPr>
            <a:r>
              <a:t>• Evaluate their combined effects under nominal and selected disturbance conditions.</a:t>
            </a:r>
          </a:p>
          <a:p>
            <a:pPr>
              <a:spcAft>
                <a:spcPts val="700"/>
              </a:spcAft>
              <a:defRPr sz="1500"/>
            </a:pPr>
            <a:r>
              <a:t>• Quantify performance and identify practical implementation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Proposed System &amp; Research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Vref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20240" y="2194560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Error</a:t>
            </a:r>
          </a:p>
          <a:p>
            <a:r>
              <a:t>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194560"/>
            <a:ext cx="100584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2194560"/>
            <a:ext cx="118872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PWM /</a:t>
            </a:r>
          </a:p>
          <a:p>
            <a:r>
              <a:t>DPWM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057400"/>
            <a:ext cx="1645920" cy="8229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Buck-Boost</a:t>
            </a:r>
          </a:p>
          <a:p>
            <a:r>
              <a:t>Converter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194560"/>
            <a:ext cx="914400" cy="5486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Vout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77639"/>
            <a:ext cx="16459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Sampling +</a:t>
            </a:r>
          </a:p>
          <a:p>
            <a:r>
              <a:t>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2468880"/>
            <a:ext cx="36576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4640" y="246888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89120" y="2468880"/>
            <a:ext cx="4572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2468880"/>
            <a:ext cx="54864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229600" y="2468880"/>
            <a:ext cx="64008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26880" y="2743200"/>
            <a:ext cx="0" cy="1005839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400800" y="4343400"/>
            <a:ext cx="164592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886200" y="4343400"/>
            <a:ext cx="25146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2377440" y="2788920"/>
            <a:ext cx="1508760" cy="155448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0749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• Existing power stage and PID controller remain the starting point.</a:t>
            </a:r>
          </a:p>
          <a:p>
            <a:pPr>
              <a:spcAft>
                <a:spcPts val="700"/>
              </a:spcAft>
              <a:defRPr sz="1400"/>
            </a:pPr>
            <a:r>
              <a:t>• Only standard Simulink blocks such as sampling/hold and Quantizer will be added.</a:t>
            </a:r>
          </a:p>
          <a:p>
            <a:pPr>
              <a:spcAft>
                <a:spcPts val="700"/>
              </a:spcAft>
              <a:defRPr sz="1400"/>
            </a:pPr>
            <a:r>
              <a:t>• No PSO, ANN, LSTM, fuzzy controller or new converter topology is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Methodology — Step 1: Establish the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/>
            </a:pPr>
            <a:r>
              <a:t>1. Record the existing converter parameters: Vin, Vref, L, C, load, switching frequency and PID Kp, Ki, Kd.</a:t>
            </a:r>
          </a:p>
          <a:p>
            <a:pPr>
              <a:spcAft>
                <a:spcPts val="700"/>
              </a:spcAft>
              <a:defRPr sz="1600"/>
            </a:pPr>
            <a:r>
              <a:t>2. Run the existing PID-controlled model under nominal operating conditions.</a:t>
            </a:r>
          </a:p>
          <a:p>
            <a:pPr>
              <a:spcAft>
                <a:spcPts val="700"/>
              </a:spcAft>
              <a:defRPr sz="1600"/>
            </a:pPr>
            <a:r>
              <a:t>3. Verify stable output-voltage regulation.</a:t>
            </a:r>
          </a:p>
          <a:p>
            <a:pPr>
              <a:spcAft>
                <a:spcPts val="700"/>
              </a:spcAft>
              <a:defRPr sz="1600"/>
            </a:pPr>
            <a:r>
              <a:t>4. Record Vout, inductor current, duty ratio and error.</a:t>
            </a:r>
          </a:p>
          <a:p>
            <a:pPr>
              <a:spcAft>
                <a:spcPts val="700"/>
              </a:spcAft>
              <a:defRPr sz="1600"/>
            </a:pPr>
            <a:r>
              <a:t>5. Calculate settling time, overshoot, steady-state error, ripple, IAE and ITAE.</a:t>
            </a:r>
          </a:p>
          <a:p>
            <a:pPr>
              <a:spcAft>
                <a:spcPts val="700"/>
              </a:spcAft>
              <a:defRPr sz="1600"/>
            </a:pPr>
            <a:r>
              <a:t>6. Save this as the reference/ideal case.</a:t>
            </a:r>
          </a:p>
          <a:p>
            <a:pPr>
              <a:spcAft>
                <a:spcPts val="700"/>
              </a:spcAft>
              <a:defRPr sz="1600"/>
            </a:pPr>
            <a:r>
              <a:t>7. All later simulations will use identical converter parameters unless the investigated variable is intentionally changed.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Methodology — Step 2: Sampling &amp; ADC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Sampling study:</a:t>
            </a:r>
          </a:p>
          <a:p>
            <a:pPr>
              <a:spcAft>
                <a:spcPts val="700"/>
              </a:spcAft>
              <a:defRPr sz="1400"/>
            </a:pPr>
            <a:r>
              <a:t>• Insert a discrete sampling/hold stage in the feedback path.</a:t>
            </a:r>
          </a:p>
          <a:p>
            <a:pPr>
              <a:spcAft>
                <a:spcPts val="700"/>
              </a:spcAft>
              <a:defRPr sz="1400"/>
            </a:pPr>
            <a:r>
              <a:t>• Keep ADC and PWM resolution effectively ideal while sampling is investigated.</a:t>
            </a:r>
          </a:p>
          <a:p>
            <a:pPr>
              <a:spcAft>
                <a:spcPts val="700"/>
              </a:spcAft>
              <a:defRPr sz="1400"/>
            </a:pPr>
            <a:r>
              <a:t>• Test sampling periods relative to the switching period, e.g. Tsw, 2Tsw and 5Tsw; final values depend on the actual model.</a:t>
            </a:r>
          </a:p>
          <a:p>
            <a:pPr>
              <a:spcAft>
                <a:spcPts val="700"/>
              </a:spcAft>
              <a:defRPr sz="1400"/>
            </a:pPr>
            <a:endParaRPr/>
          </a:p>
          <a:p>
            <a:pPr>
              <a:spcAft>
                <a:spcPts val="700"/>
              </a:spcAft>
              <a:defRPr sz="1400"/>
            </a:pPr>
            <a:r>
              <a:t>ADC study:</a:t>
            </a:r>
          </a:p>
          <a:p>
            <a:pPr>
              <a:spcAft>
                <a:spcPts val="700"/>
              </a:spcAft>
              <a:defRPr sz="1400"/>
            </a:pPr>
            <a:r>
              <a:t>• Keep sampling time fixed.</a:t>
            </a:r>
          </a:p>
          <a:p>
            <a:pPr>
              <a:spcAft>
                <a:spcPts val="700"/>
              </a:spcAft>
              <a:defRPr sz="1400"/>
            </a:pPr>
            <a:r>
              <a:t>• Model finite measurement resolution with a standard Quantizer/equivalent block.</a:t>
            </a:r>
          </a:p>
          <a:p>
            <a:pPr>
              <a:spcAft>
                <a:spcPts val="700"/>
              </a:spcAft>
              <a:defRPr sz="1400"/>
            </a:pPr>
            <a:r>
              <a:t>• Test practical resolutions such as 12-, 10-, 8- and 6-bit, subject to the actual voltage range and model behavior.</a:t>
            </a:r>
          </a:p>
          <a:p>
            <a:pPr>
              <a:spcAft>
                <a:spcPts val="700"/>
              </a:spcAft>
              <a:defRPr sz="1400"/>
            </a:pPr>
            <a:r>
              <a:t>• Compare regulation accuracy, ripple and transient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Methodology — Step 3: PWM &amp; Combined Effects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/>
            </a:pPr>
            <a:r>
              <a:t>PWM-resolution study:</a:t>
            </a:r>
          </a:p>
          <a:p>
            <a:pPr>
              <a:spcAft>
                <a:spcPts val="700"/>
              </a:spcAft>
              <a:defRPr sz="1500"/>
            </a:pPr>
            <a:r>
              <a:t>• Keep sampling time and ADC resolution fixed.</a:t>
            </a:r>
          </a:p>
          <a:p>
            <a:pPr>
              <a:spcAft>
                <a:spcPts val="700"/>
              </a:spcAft>
              <a:defRPr sz="1500"/>
            </a:pPr>
            <a:r>
              <a:t>• Represent finite duty-cycle resolution in the PWM command.</a:t>
            </a:r>
          </a:p>
          <a:p>
            <a:pPr>
              <a:spcAft>
                <a:spcPts val="700"/>
              </a:spcAft>
              <a:defRPr sz="1500"/>
            </a:pPr>
            <a:r>
              <a:t>• Test selected PWM resolutions such as 12-, 10-, 8- and 6-bit.</a:t>
            </a:r>
          </a:p>
          <a:p>
            <a:pPr>
              <a:spcAft>
                <a:spcPts val="700"/>
              </a:spcAft>
              <a:defRPr sz="1500"/>
            </a:pPr>
            <a:endParaRPr/>
          </a:p>
          <a:p>
            <a:pPr>
              <a:spcAft>
                <a:spcPts val="700"/>
              </a:spcAft>
              <a:defRPr sz="1500"/>
            </a:pPr>
            <a:r>
              <a:t>Combined study:</a:t>
            </a:r>
          </a:p>
          <a:p>
            <a:pPr>
              <a:spcAft>
                <a:spcPts val="700"/>
              </a:spcAft>
              <a:defRPr sz="1500"/>
            </a:pPr>
            <a:r>
              <a:t>• Combine selected sampling times, ADC resolutions and PWM resolutions.</a:t>
            </a:r>
          </a:p>
          <a:p>
            <a:pPr>
              <a:spcAft>
                <a:spcPts val="700"/>
              </a:spcAft>
              <a:defRPr sz="1500"/>
            </a:pPr>
            <a:r>
              <a:t>• Use a small, controlled test matrix rather than hundreds of simulations.</a:t>
            </a:r>
          </a:p>
          <a:p>
            <a:pPr>
              <a:spcAft>
                <a:spcPts val="700"/>
              </a:spcAft>
              <a:defRPr sz="1500"/>
            </a:pPr>
            <a:r>
              <a:t>• Determine whether performance degradation is mainly caused by sampling, measurement resolution, PWM resolution, or their interaction.</a:t>
            </a:r>
          </a:p>
          <a:p>
            <a:pPr>
              <a:spcAft>
                <a:spcPts val="700"/>
              </a:spcAft>
              <a:defRPr sz="1500"/>
            </a:pPr>
            <a:r>
              <a:t>• Inspect steady-state waveforms for persistent quantization-induced oscillation.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Methodology — Step 4: Disturbance Tests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Disturbance tests:</a:t>
            </a:r>
          </a:p>
          <a:p>
            <a:pPr>
              <a:spcAft>
                <a:spcPts val="700"/>
              </a:spcAft>
              <a:defRPr sz="1400"/>
            </a:pPr>
            <a:r>
              <a:t>• Nominal operation with fixed Vin and load.</a:t>
            </a:r>
          </a:p>
          <a:p>
            <a:pPr>
              <a:spcAft>
                <a:spcPts val="700"/>
              </a:spcAft>
              <a:defRPr sz="1400"/>
            </a:pPr>
            <a:r>
              <a:t>• Input-voltage step within the converter's safe operating range.</a:t>
            </a:r>
          </a:p>
          <a:p>
            <a:pPr>
              <a:spcAft>
                <a:spcPts val="700"/>
              </a:spcAft>
              <a:defRPr sz="1400"/>
            </a:pPr>
            <a:r>
              <a:t>• Load step within the model's valid operating range.</a:t>
            </a:r>
          </a:p>
          <a:p>
            <a:pPr>
              <a:spcAft>
                <a:spcPts val="700"/>
              </a:spcAft>
              <a:defRPr sz="1400"/>
            </a:pPr>
            <a:r>
              <a:t>• Selected repeated transitions for the most informative configurations.</a:t>
            </a:r>
          </a:p>
          <a:p>
            <a:pPr>
              <a:spcAft>
                <a:spcPts val="700"/>
              </a:spcAft>
              <a:defRPr sz="1400"/>
            </a:pPr>
            <a:endParaRPr/>
          </a:p>
          <a:p>
            <a:pPr>
              <a:spcAft>
                <a:spcPts val="700"/>
              </a:spcAft>
              <a:defRPr sz="1400"/>
            </a:pPr>
            <a:r>
              <a:t>Performance metrics:</a:t>
            </a:r>
          </a:p>
          <a:p>
            <a:pPr>
              <a:spcAft>
                <a:spcPts val="700"/>
              </a:spcAft>
              <a:defRPr sz="1400"/>
            </a:pPr>
            <a:r>
              <a:t>• Settling time and overshoot.</a:t>
            </a:r>
          </a:p>
          <a:p>
            <a:pPr>
              <a:spcAft>
                <a:spcPts val="700"/>
              </a:spcAft>
              <a:defRPr sz="1400"/>
            </a:pPr>
            <a:r>
              <a:t>• Steady-state error and RMS voltage ripple.</a:t>
            </a:r>
          </a:p>
          <a:p>
            <a:pPr>
              <a:spcAft>
                <a:spcPts val="700"/>
              </a:spcAft>
              <a:defRPr sz="1400"/>
            </a:pPr>
            <a:r>
              <a:t>• IAE = ∫|e(t)|dt and ITAE = ∫t|e(t)|dt.</a:t>
            </a:r>
          </a:p>
          <a:p>
            <a:pPr>
              <a:spcAft>
                <a:spcPts val="700"/>
              </a:spcAft>
              <a:defRPr sz="1400"/>
            </a:pPr>
            <a:r>
              <a:t>• Limit-cycle amplitude = Vmax,ss − Vmin,ss.</a:t>
            </a:r>
          </a:p>
          <a:p>
            <a:pPr>
              <a:spcAft>
                <a:spcPts val="700"/>
              </a:spcAft>
              <a:defRPr sz="1400"/>
            </a:pPr>
            <a:r>
              <a:t>• Efficiency only if reliable input/output power data are already available.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Expected Results, Contribution &amp; Novelty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t>Expected findings to be tested:</a:t>
            </a:r>
          </a:p>
          <a:p>
            <a:pPr>
              <a:spcAft>
                <a:spcPts val="700"/>
              </a:spcAft>
              <a:defRPr sz="1400"/>
            </a:pPr>
            <a:r>
              <a:t>• Slower sampling and coarser resolution are expected to increase regulation error and/or oscillatory behavior.</a:t>
            </a:r>
          </a:p>
          <a:p>
            <a:pPr>
              <a:spcAft>
                <a:spcPts val="700"/>
              </a:spcAft>
              <a:defRPr sz="1400"/>
            </a:pPr>
            <a:r>
              <a:t>• A practical region should exist where performance remains close to the reference controller.</a:t>
            </a:r>
          </a:p>
          <a:p>
            <a:pPr>
              <a:spcAft>
                <a:spcPts val="700"/>
              </a:spcAft>
              <a:defRPr sz="1400"/>
            </a:pPr>
            <a:r>
              <a:t>• The interaction between sampling and finite resolution may reveal combinations that are unnecessarily expensive or unnecessarily restrictive.</a:t>
            </a:r>
          </a:p>
          <a:p>
            <a:pPr>
              <a:spcAft>
                <a:spcPts val="700"/>
              </a:spcAft>
              <a:defRPr sz="1400"/>
            </a:pPr>
            <a:endParaRPr/>
          </a:p>
          <a:p>
            <a:pPr>
              <a:spcAft>
                <a:spcPts val="700"/>
              </a:spcAft>
              <a:defRPr sz="1400"/>
            </a:pPr>
            <a:r>
              <a:t>Expected contribution:</a:t>
            </a:r>
          </a:p>
          <a:p>
            <a:pPr>
              <a:spcAft>
                <a:spcPts val="700"/>
              </a:spcAft>
              <a:defRPr sz="1400"/>
            </a:pPr>
            <a:r>
              <a:t>• A reproducible Simulink framework for single-loop PID buck-boost digital implementation analysis.</a:t>
            </a:r>
          </a:p>
          <a:p>
            <a:pPr>
              <a:spcAft>
                <a:spcPts val="700"/>
              </a:spcAft>
              <a:defRPr sz="1400"/>
            </a:pPr>
            <a:r>
              <a:t>• Quantitative comparison of sampling, ADC and PWM limitations.</a:t>
            </a:r>
          </a:p>
          <a:p>
            <a:pPr>
              <a:spcAft>
                <a:spcPts val="700"/>
              </a:spcAft>
              <a:defRPr sz="1400"/>
            </a:pPr>
            <a:r>
              <a:t>• A practical performance map showing acceptable implementation regions.</a:t>
            </a:r>
          </a:p>
          <a:p>
            <a:pPr>
              <a:spcAft>
                <a:spcPts val="700"/>
              </a:spcAft>
              <a:defRPr sz="1400"/>
            </a:pPr>
            <a:r>
              <a:t>• The novelty is the focused combined, design-oriented characterization—not the claim that quantization itself is new.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Proposed Paper Structure &amp; Core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78992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/>
            </a:pPr>
            <a:r>
              <a:t>Paper structure:</a:t>
            </a:r>
          </a:p>
          <a:p>
            <a:pPr>
              <a:spcAft>
                <a:spcPts val="700"/>
              </a:spcAft>
              <a:defRPr sz="1300"/>
            </a:pPr>
            <a:r>
              <a:t>• I. Introduction</a:t>
            </a:r>
          </a:p>
          <a:p>
            <a:pPr>
              <a:spcAft>
                <a:spcPts val="700"/>
              </a:spcAft>
              <a:defRPr sz="1300"/>
            </a:pPr>
            <a:r>
              <a:t>• II. Related Work and Research Gap</a:t>
            </a:r>
          </a:p>
          <a:p>
            <a:pPr>
              <a:spcAft>
                <a:spcPts val="700"/>
              </a:spcAft>
              <a:defRPr sz="1300"/>
            </a:pPr>
            <a:r>
              <a:t>• III. Buck-Boost Converter and PID Model</a:t>
            </a:r>
          </a:p>
          <a:p>
            <a:pPr>
              <a:spcAft>
                <a:spcPts val="700"/>
              </a:spcAft>
              <a:defRPr sz="1300"/>
            </a:pPr>
            <a:r>
              <a:t>• IV. Digital Implementation Model</a:t>
            </a:r>
          </a:p>
          <a:p>
            <a:pPr>
              <a:spcAft>
                <a:spcPts val="700"/>
              </a:spcAft>
              <a:defRPr sz="1300"/>
            </a:pPr>
            <a:r>
              <a:t>• V. Simulation Methodology</a:t>
            </a:r>
          </a:p>
          <a:p>
            <a:pPr>
              <a:spcAft>
                <a:spcPts val="700"/>
              </a:spcAft>
              <a:defRPr sz="1300"/>
            </a:pPr>
            <a:r>
              <a:t>• VI. Results and Discussion</a:t>
            </a:r>
          </a:p>
          <a:p>
            <a:pPr>
              <a:spcAft>
                <a:spcPts val="700"/>
              </a:spcAft>
              <a:defRPr sz="1300"/>
            </a:pPr>
            <a:r>
              <a:t>• VII. Practical Performance Map / Guidelines</a:t>
            </a:r>
          </a:p>
          <a:p>
            <a:pPr>
              <a:spcAft>
                <a:spcPts val="700"/>
              </a:spcAft>
              <a:defRPr sz="1300"/>
            </a:pPr>
            <a:r>
              <a:t>• VIII. Conclusion</a:t>
            </a:r>
          </a:p>
          <a:p>
            <a:pPr>
              <a:spcAft>
                <a:spcPts val="700"/>
              </a:spcAft>
              <a:defRPr sz="1300"/>
            </a:pPr>
            <a:endParaRPr/>
          </a:p>
          <a:p>
            <a:pPr>
              <a:spcAft>
                <a:spcPts val="700"/>
              </a:spcAft>
              <a:defRPr sz="1300"/>
            </a:pPr>
            <a:r>
              <a:t>Core references:</a:t>
            </a:r>
          </a:p>
          <a:p>
            <a:pPr>
              <a:spcAft>
                <a:spcPts val="700"/>
              </a:spcAft>
              <a:defRPr sz="1300"/>
            </a:pPr>
            <a:r>
              <a:t>• Vijayalakshmi &amp; Sree Renga Raja, 2014 — digital PID buck-boost control.</a:t>
            </a:r>
          </a:p>
          <a:p>
            <a:pPr>
              <a:spcAft>
                <a:spcPts val="700"/>
              </a:spcAft>
              <a:defRPr sz="1300"/>
            </a:pPr>
            <a:r>
              <a:t>• González-Castaño et al., Applied Sciences, 2020 — ADC quantization and digital buck-boost control.</a:t>
            </a:r>
          </a:p>
          <a:p>
            <a:pPr>
              <a:spcAft>
                <a:spcPts val="700"/>
              </a:spcAft>
              <a:defRPr sz="1300"/>
            </a:pPr>
            <a:r>
              <a:t>• Journal of Electrical Systems and Information Technology, 2020 — digital PID/PIDN bidirectional buck-boost control.</a:t>
            </a:r>
          </a:p>
          <a:p>
            <a:pPr>
              <a:spcAft>
                <a:spcPts val="700"/>
              </a:spcAft>
              <a:defRPr sz="1300"/>
            </a:pPr>
            <a:r>
              <a:t>• Recent 2025 work — end-to-end ADC/DPWM quantization co-design for MHz GaN converters.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/>
            </a:pPr>
            <a:r>
              <a:t>Research Proposal | Ariya &amp; Jasimul Islam Chowdhury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Syeda Salsabil Islam Ariya</cp:lastModifiedBy>
  <cp:revision>2</cp:revision>
  <dcterms:created xsi:type="dcterms:W3CDTF">2013-01-27T09:14:16Z</dcterms:created>
  <dcterms:modified xsi:type="dcterms:W3CDTF">2026-08-18T18:01:57Z</dcterms:modified>
  <cp:category/>
</cp:coreProperties>
</file>